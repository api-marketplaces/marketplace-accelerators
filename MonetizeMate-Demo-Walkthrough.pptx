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1031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40">
                <a:solidFill>
                  <a:srgbClr val="14B8A6"/>
                </a:solidFill>
                <a:latin typeface="Consolas"/>
              </a:rPr>
              <a:t>ENGINEERING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51460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E7EEF5"/>
                </a:solidFill>
                <a:latin typeface="Consolas"/>
              </a:rPr>
              <a:t>MonetizeMate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0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7B8C8"/>
                </a:solidFill>
                <a:latin typeface="Segoe UI"/>
              </a:rPr>
              <a:t>An AI-powered API monetization strategy platform — this walkthrough covers the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7B8C8"/>
                </a:solidFill>
                <a:latin typeface="Segoe UI"/>
              </a:rPr>
              <a:t>live product surface, the engine underneath it, and what's still in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6344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NEXT.JS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1952" y="46634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466344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GROQ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4216" y="4663440"/>
            <a:ext cx="1472184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LIVE ON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7EEF5"/>
                </a:solidFill>
                <a:latin typeface="Consolas"/>
              </a:rPr>
              <a:t>Business signals in.</a:t>
            </a:r>
          </a:p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7EEF5"/>
                </a:solidFill>
                <a:latin typeface="Consolas"/>
              </a:rPr>
              <a:t>A monetization package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7B8C8"/>
                </a:solidFill>
                <a:latin typeface="Segoe UI"/>
              </a:rPr>
              <a:t>MonetizeMate takes structured signals about a business — its customers, its APIs, its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7B8C8"/>
                </a:solidFill>
                <a:latin typeface="Segoe UI"/>
              </a:rPr>
              <a:t>revenue goals, its technical maturity — and returns one consistent package: ranked strategy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7B8C8"/>
                </a:solidFill>
                <a:latin typeface="Segoe UI"/>
              </a:rPr>
              <a:t>recommendations, pricing tiers, packaging bundles, and a rollout roadmap. All generated by an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7B8C8"/>
                </a:solidFill>
                <a:latin typeface="Segoe UI"/>
              </a:rPr>
              <a:t>LLM, constrained to a single JSON contract so the shape never drifts between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246120"/>
            <a:ext cx="3454298" cy="137160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392424"/>
            <a:ext cx="30519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666744"/>
            <a:ext cx="30519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Business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014216"/>
            <a:ext cx="305196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Questionnaire answers or a saved business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8658" y="3246120"/>
            <a:ext cx="320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748A9E"/>
                </a:solidFill>
                <a:latin typeface="Consola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3246120"/>
            <a:ext cx="3454298" cy="137160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9866" y="3392424"/>
            <a:ext cx="30519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9866" y="3666744"/>
            <a:ext cx="30519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Groq + fixed prompt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866" y="4014216"/>
            <a:ext cx="305196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prompt_templates.py, temperature 0.35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2996" y="3246120"/>
            <a:ext cx="320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748A9E"/>
                </a:solidFill>
                <a:latin typeface="Consola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3246120"/>
            <a:ext cx="3454298" cy="137160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4204" y="3392424"/>
            <a:ext cx="30519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4204" y="3666744"/>
            <a:ext cx="30519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One structured 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4204" y="4014216"/>
            <a:ext cx="305196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Recommendations · Pricing · Packaging ·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7EEF5"/>
                </a:solidFill>
                <a:latin typeface="Consolas"/>
              </a:rPr>
              <a:t>Three tiers, one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3515258" cy="192024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66544"/>
            <a:ext cx="31129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40864"/>
            <a:ext cx="31129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Next.js 16 (App Router)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88336"/>
            <a:ext cx="3112922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React + Tailwind. Every backend call goes through a Next.js API route, which attaches the session JWT server-side.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920240"/>
            <a:ext cx="3515258" cy="192024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9386" y="2066544"/>
            <a:ext cx="31129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386" y="2340864"/>
            <a:ext cx="31129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FastAPI (Python)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2688336"/>
            <a:ext cx="3112922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SQLAlchemy over SQLite, JWT auth, versioned under /api/v1. Questionnaires, recommendations, profiles, admin insights.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076" y="1920240"/>
            <a:ext cx="3515258" cy="192024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3244" y="2066544"/>
            <a:ext cx="31129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3244" y="2340864"/>
            <a:ext cx="31129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Groq — openai/gpt-oss-120b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244" y="2688336"/>
            <a:ext cx="3112922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Called only from the backend. Fixed prompt templates, low temperature for repeatability.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11002975" cy="1417320"/>
          </a:xfrm>
          <a:prstGeom prst="roundRect">
            <a:avLst>
              <a:gd name="adj" fmla="val 4500"/>
            </a:avLst>
          </a:prstGeom>
          <a:solidFill>
            <a:srgbClr val="0C18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0248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48A9E"/>
                </a:solidFill>
                <a:latin typeface="Consolas"/>
              </a:rPr>
              <a:t>request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544568"/>
            <a:ext cx="11002975" cy="12700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10637215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Browser → Next.js API route (attaches JWT) → FastAPI /api/v1/*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→ Groq → normalized JSON → rendered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PRODUCT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7EEF5"/>
                </a:solidFill>
                <a:latin typeface="Consolas"/>
              </a:rPr>
              <a:t>One dashboard, three doors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3515258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66544"/>
            <a:ext cx="31129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ENTRY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40864"/>
            <a:ext cx="31129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Business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88336"/>
            <a:ext cx="311292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Categorized business profile builder — save and reuse across assessments.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920240"/>
            <a:ext cx="3515258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9386" y="2066544"/>
            <a:ext cx="31129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ENTRY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386" y="2340864"/>
            <a:ext cx="31129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AI Chat 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2688336"/>
            <a:ext cx="311292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Conversational discovery instead of a form — sequential follow-up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076" y="1920240"/>
            <a:ext cx="3515258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3244" y="2066544"/>
            <a:ext cx="31129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ENTRY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3244" y="2340864"/>
            <a:ext cx="31129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Answer Questionnaire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244" y="2688336"/>
            <a:ext cx="311292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Adaptive, phased business assessment — the one live path today.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C1826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748A9E"/>
                </a:solidFill>
                <a:latin typeface="Consolas"/>
              </a:rPr>
              <a:t>COMING SOON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79476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C1826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748A9E"/>
                </a:solidFill>
                <a:latin typeface="Consolas"/>
              </a:rPr>
              <a:t>COMING SOON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79476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43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748A9E"/>
                </a:solidFill>
                <a:latin typeface="Consolas"/>
              </a:rPr>
              <a:t>THE ACTIVE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63440"/>
            <a:ext cx="3454298" cy="10515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809744"/>
            <a:ext cx="30519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084064"/>
            <a:ext cx="30519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Questionnaire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431536"/>
            <a:ext cx="305196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Adaptive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8658" y="4663440"/>
            <a:ext cx="320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748A9E"/>
                </a:solidFill>
                <a:latin typeface="Consola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8698" y="4663440"/>
            <a:ext cx="3454298" cy="10515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9866" y="4809744"/>
            <a:ext cx="30519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866" y="5084064"/>
            <a:ext cx="30519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866" y="5431536"/>
            <a:ext cx="305196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Pricing, packaging,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2996" y="4663440"/>
            <a:ext cx="320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748A9E"/>
                </a:solidFill>
                <a:latin typeface="Consola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43036" y="4663440"/>
            <a:ext cx="3454298" cy="10515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4204" y="4809744"/>
            <a:ext cx="305196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4204" y="5084064"/>
            <a:ext cx="30519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Implementation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4204" y="5431536"/>
            <a:ext cx="305196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Phased runbook +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ENGINE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E7EEF5"/>
                </a:solidFill>
                <a:latin typeface="Consolas"/>
              </a:rPr>
              <a:t>The questionnaire adapts to the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E7EEF5"/>
                </a:solidFill>
                <a:latin typeface="Consolas"/>
              </a:rPr>
              <a:t>answer, not a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748A9E"/>
                </a:solidFill>
                <a:latin typeface="Consolas"/>
              </a:rPr>
              <a:t>HOW IT STAYS RELEVANT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18607" cy="10515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752344"/>
            <a:ext cx="4916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Phased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099816"/>
            <a:ext cx="4916271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Foundations → customer &amp; value → monetization specifics → readiness &amp; scale. Question one is never a specific pricing question.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749039"/>
            <a:ext cx="5318607" cy="91440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895343"/>
            <a:ext cx="4916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Skip-aware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242815"/>
            <a:ext cx="49162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If the previous answer was skipped, the next prompt is told not to re-ask that topic.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754880"/>
            <a:ext cx="5318607" cy="91440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901184"/>
            <a:ext cx="4916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Free-form escape hatch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248656"/>
            <a:ext cx="49162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Every question gets an "Other (please specify)" option, de-duplicated against the model's own options.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2860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748A9E"/>
                </a:solidFill>
                <a:latin typeface="Consolas"/>
              </a:rPr>
              <a:t>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606040"/>
            <a:ext cx="5318607" cy="3063240"/>
          </a:xfrm>
          <a:prstGeom prst="roundRect">
            <a:avLst>
              <a:gd name="adj" fmla="val 4500"/>
            </a:avLst>
          </a:prstGeom>
          <a:solidFill>
            <a:srgbClr val="0C18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715768"/>
            <a:ext cx="49528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48A9E"/>
                </a:solidFill>
                <a:latin typeface="Consolas"/>
              </a:rPr>
              <a:t>app/api/monetization_recommendation_endpoints.py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2990088"/>
            <a:ext cx="5318607" cy="12700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3099816"/>
            <a:ext cx="4952847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def _questionnaire_phase(total_answered):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if total_answered &lt; 3: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    return "Foundations", (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        "Ask broad, non-technical basics — "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        "business stage, do they have an API "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        "yet, target customers, goal."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    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if total_answered &lt; 7: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    return "Customer &amp; Value", ...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if total_answered &lt; 11: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    return "Monetization Specifics", ...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  return "Readiness &amp; Scale",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ENGINE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7EEF5"/>
                </a:solidFill>
                <a:latin typeface="Consolas"/>
              </a:rPr>
              <a:t>One JSON contract,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748A9E"/>
                </a:solidFill>
                <a:latin typeface="Consolas"/>
              </a:rPr>
              <a:t>WHY IT HOLDS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5318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7B8C8"/>
                </a:solidFill>
                <a:latin typeface="Segoe UI"/>
              </a:rPr>
              <a:t>prompt_templates.py is the single source of truth for what a monetization strategy looks like. Every call uses the same fixed template and a low temperature (0.35) — consistent structure across industries, not drift.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931920"/>
            <a:ext cx="531860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078224"/>
            <a:ext cx="4916271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Normalizers on the way back guarantee the shape even when the model's raw output is malformed — every field has a typed fallback, so the UI never has to guard against a missing 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860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748A9E"/>
                </a:solidFill>
                <a:latin typeface="Consolas"/>
              </a:rPr>
              <a:t>THE 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606040"/>
            <a:ext cx="5318607" cy="3063240"/>
          </a:xfrm>
          <a:prstGeom prst="roundRect">
            <a:avLst>
              <a:gd name="adj" fmla="val 4500"/>
            </a:avLst>
          </a:prstGeom>
          <a:solidFill>
            <a:srgbClr val="0C18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2715768"/>
            <a:ext cx="49528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48A9E"/>
                </a:solidFill>
                <a:latin typeface="Consolas"/>
              </a:rPr>
              <a:t>shape returned by /monetization/recommend/llm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990088"/>
            <a:ext cx="5318607" cy="12700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3099816"/>
            <a:ext cx="4952847" cy="2459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"recommendations": [ {..., "score", "reasoning"} ],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"pricing": { "model", "tiers": [...] },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"packaging": { "strategy", "bundles": [...] },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  "roadmap": { "phases": [...] }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LIVE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7EEF5"/>
                </a:solidFill>
                <a:latin typeface="Consolas"/>
              </a:rPr>
              <a:t>From answers to an actual pricing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12264"/>
            <a:ext cx="49848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8658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Tiered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34056"/>
            <a:ext cx="4984851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Named tiers with price, included usage, and overage rate — a real per-tier breakdown.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196596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1315" y="2112264"/>
            <a:ext cx="49848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PACKAGING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1315" y="238658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Good–Better–Best bundles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1315" y="2734056"/>
            <a:ext cx="4984851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Feature bundles with an explicit upsell path from one tier to the next.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078224"/>
            <a:ext cx="49848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35254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Phased rollout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700016"/>
            <a:ext cx="4984851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Sequential phases with duration and concrete milestones — planning through optimization.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7" y="393192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1315" y="4078224"/>
            <a:ext cx="49848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10">
                <a:solidFill>
                  <a:srgbClr val="14B8A6"/>
                </a:solidFill>
                <a:latin typeface="Consolas"/>
              </a:rPr>
              <a:t>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1315" y="435254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Ranked strategy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1315" y="4700016"/>
            <a:ext cx="4984851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Reasoning, pros/cons, risks, and one-click PDF export per strategy, plus a full comparison report.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LIVE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7EEF5"/>
                </a:solidFill>
                <a:latin typeface="Consolas"/>
              </a:rPr>
              <a:t>Turning the top strategy into a runbook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1226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Phased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59736"/>
            <a:ext cx="4984851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Built from the chosen strategy's own implementationSteps — not generic filler repeated for every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96596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1315" y="211226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Prerequisites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1315" y="2459736"/>
            <a:ext cx="4984851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Each listed risk is paired with its mitigation, framed as a readiness checklist before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3192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07822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Optimal delivery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425696"/>
            <a:ext cx="4984851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Recommended timeline, expected revenue impact, and the model's reasoning for that rollout shape.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393192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315" y="407822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Call-to-action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315" y="4425696"/>
            <a:ext cx="4984851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Success metrics turned into an actionable checklist, plus one-click PDF download of the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ENGINE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7EEF5"/>
                </a:solidFill>
                <a:latin typeface="Consolas"/>
              </a:rPr>
              <a:t>A profile you build once, and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748A9E"/>
                </a:solidFill>
                <a:latin typeface="Consolas"/>
              </a:rPr>
              <a:t>CATEGORIZED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18607" cy="155448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752344"/>
            <a:ext cx="4916271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•  Business Model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•  Customers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•  APIs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•  Revenue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•  Technology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• 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297680"/>
            <a:ext cx="5318607" cy="91440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443984"/>
            <a:ext cx="491627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Six sections replace the old flat 18-field form. Each is stored as its own JSON column on a per-user business_profiles 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22860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748A9E"/>
                </a:solidFill>
                <a:latin typeface="Consolas"/>
              </a:rPr>
              <a:t>CRUD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606040"/>
            <a:ext cx="5318607" cy="1691640"/>
          </a:xfrm>
          <a:prstGeom prst="roundRect">
            <a:avLst>
              <a:gd name="adj" fmla="val 4500"/>
            </a:avLst>
          </a:prstGeom>
          <a:solidFill>
            <a:srgbClr val="0C18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2715768"/>
            <a:ext cx="49528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48A9E"/>
                </a:solidFill>
                <a:latin typeface="Consolas"/>
              </a:rPr>
              <a:t>app/api/business_profile_endpoints.py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2990088"/>
            <a:ext cx="5318607" cy="12700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3099816"/>
            <a:ext cx="4952847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GET    /business-profiles/       – list saved profiles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POST   /business-profiles/       – create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GET    /business-profiles/{id}   – retrieve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PUT    /business-profiles/{id}   – edit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EEAD4"/>
                </a:solidFill>
                <a:latin typeface="Consolas"/>
              </a:rPr>
              <a:t>DELETE /business-profiles/{id}   – remove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4434840"/>
            <a:ext cx="5318607" cy="77724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895" y="4581144"/>
            <a:ext cx="4916271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Built end-to-end, but sits behind the disabled Business Data entry point until it's re-enabled.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ENGINEERING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E7EEF5"/>
                </a:solidFill>
                <a:latin typeface="Consolas"/>
              </a:rPr>
              <a:t>Why "Download PDF" used to open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E7EEF5"/>
                </a:solidFill>
                <a:latin typeface="Consolas"/>
              </a:rPr>
              <a:t>a print dialog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748A9E"/>
                </a:solidFill>
                <a:latin typeface="Consolas"/>
              </a:rPr>
              <a:t>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51760"/>
            <a:ext cx="5318607" cy="123444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798064"/>
            <a:ext cx="4916271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window.print() always hands control to the browser's own print dialog — there is no way to force a silent, direct file save from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977639"/>
            <a:ext cx="5318607" cy="146304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123943"/>
            <a:ext cx="4916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The real bug, once fixed to render off-DOM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471415"/>
            <a:ext cx="4916271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Not positioning — html2canvas's clone step zeroed out an auto-height container, even though the live DOM measured the content correctly. A blank white page came out every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33172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748A9E"/>
                </a:solidFill>
                <a:latin typeface="Consolas"/>
              </a:rPr>
              <a:t>AFTER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651760"/>
            <a:ext cx="5318607" cy="146304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2798064"/>
            <a:ext cx="4916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html2pdf.js, rendered off-screen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895" y="3145536"/>
            <a:ext cx="4916271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Explicitly measure the content's real height and lock it in as a pixel value before capture — the same trick html2pdf.js uses internally.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4251960"/>
            <a:ext cx="5318607" cy="118872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895" y="4398264"/>
            <a:ext cx="4916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Bonus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9895" y="4745736"/>
            <a:ext cx="491627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Every other position:fixed element (the floating help widget) is hidden for the moment of capture, so it can't bleed into the exported file.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LIVE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7EEF5"/>
                </a:solidFill>
                <a:latin typeface="Consolas"/>
              </a:rPr>
              <a:t>Platform-wide visibility for the team running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515258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12264"/>
            <a:ext cx="31129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Usage &amp;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59736"/>
            <a:ext cx="3112922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Industry, company size, API maturity, persona, and pricing-model distributions across every assessment.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965960"/>
            <a:ext cx="3515258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386" y="2112264"/>
            <a:ext cx="31129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Feature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386" y="2459736"/>
            <a:ext cx="3112922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Opened / completed / time spent / reports generated / downloads, per feature.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2076" y="1965960"/>
            <a:ext cx="3515258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3244" y="2112264"/>
            <a:ext cx="311292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AI-derived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3244" y="2459736"/>
            <a:ext cx="3112922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Governance actions, success metrics, and a full implementation roadmap — downloadable as its own PDF.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77639"/>
            <a:ext cx="11002975" cy="73152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123943"/>
            <a:ext cx="106006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Gated by is_admin on the account — a separate login surface from the main 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STATUS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7EEF5"/>
                </a:solidFill>
                <a:latin typeface="Consolas"/>
              </a:rPr>
              <a:t>What's running, what's paused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10">
                <a:solidFill>
                  <a:srgbClr val="748A9E"/>
                </a:solidFill>
                <a:latin typeface="Consolas"/>
              </a:rPr>
              <a:t>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874519"/>
            <a:ext cx="6248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10">
                <a:solidFill>
                  <a:srgbClr val="748A9E"/>
                </a:solidFill>
                <a:latin typeface="Consolas"/>
              </a:rPr>
              <a:t>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295" y="187451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10">
                <a:solidFill>
                  <a:srgbClr val="748A9E"/>
                </a:solidFill>
                <a:latin typeface="Consolas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67127"/>
            <a:ext cx="11002975" cy="12700"/>
          </a:xfrm>
          <a:prstGeom prst="rect">
            <a:avLst/>
          </a:prstGeom>
          <a:solidFill>
            <a:srgbClr val="2A4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58567"/>
            <a:ext cx="3291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7EEF5"/>
                </a:solidFill>
                <a:latin typeface="Segoe U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258567"/>
            <a:ext cx="624809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B8C8"/>
                </a:solidFill>
                <a:latin typeface="Segoe UI"/>
              </a:rPr>
              <a:t>Next.js 16 (App Router), React, Tailwind — Azure Static Web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34295" y="2304287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60903"/>
            <a:ext cx="3291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7EEF5"/>
                </a:solidFill>
                <a:latin typeface="Segoe U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660903"/>
            <a:ext cx="624809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B8C8"/>
                </a:solidFill>
                <a:latin typeface="Segoe UI"/>
              </a:rPr>
              <a:t>FastAPI, SQLAlchemy, JWT auth — Azure App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34295" y="2706623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63239"/>
            <a:ext cx="3291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7EEF5"/>
                </a:solidFill>
                <a:latin typeface="Segoe U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063239"/>
            <a:ext cx="624809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B8C8"/>
                </a:solidFill>
                <a:latin typeface="Segoe UI"/>
              </a:rPr>
              <a:t>SQLite (dev), Postgres-ready connection string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4295" y="3108959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65575"/>
            <a:ext cx="3291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7EEF5"/>
                </a:solidFill>
                <a:latin typeface="Segoe UI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465575"/>
            <a:ext cx="624809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B8C8"/>
                </a:solidFill>
                <a:latin typeface="Segoe UI"/>
              </a:rPr>
              <a:t>Groq — openai/gpt-oss-120b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34295" y="3511295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867911"/>
            <a:ext cx="3291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7EEF5"/>
                </a:solidFill>
                <a:latin typeface="Segoe UI"/>
              </a:rPr>
              <a:t>Active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867911"/>
            <a:ext cx="624809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B8C8"/>
                </a:solidFill>
                <a:latin typeface="Segoe UI"/>
              </a:rPr>
              <a:t>Questionnaire → Recommendations → 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34295" y="3913631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0D3833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5EEAD4"/>
                </a:solidFill>
                <a:latin typeface="Consolas"/>
              </a:rPr>
              <a:t>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70247"/>
            <a:ext cx="3291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7EEF5"/>
                </a:solidFill>
                <a:latin typeface="Segoe UI"/>
              </a:rPr>
              <a:t>Business Data (Profile Builder)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270247"/>
            <a:ext cx="624809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B8C8"/>
                </a:solidFill>
                <a:latin typeface="Segoe UI"/>
              </a:rPr>
              <a:t>Built, CRUD complete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34295" y="4315967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C1826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748A9E"/>
                </a:solidFill>
                <a:latin typeface="Consolas"/>
              </a:rPr>
              <a:t>COMING SOON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672583"/>
            <a:ext cx="3291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7EEF5"/>
                </a:solidFill>
                <a:latin typeface="Segoe UI"/>
              </a:rPr>
              <a:t>AI Chat Advisor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672583"/>
            <a:ext cx="624809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7B8C8"/>
                </a:solidFill>
                <a:latin typeface="Segoe UI"/>
              </a:rPr>
              <a:t>Conversational discovery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4295" y="4718303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C1826"/>
          </a:solidFill>
          <a:ln w="9525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950" b="1">
                <a:solidFill>
                  <a:srgbClr val="748A9E"/>
                </a:solidFill>
                <a:latin typeface="Consolas"/>
              </a:rPr>
              <a:t>COMING SOON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212079"/>
            <a:ext cx="11002975" cy="1051560"/>
          </a:xfrm>
          <a:prstGeom prst="roundRect">
            <a:avLst>
              <a:gd name="adj" fmla="val 4500"/>
            </a:avLst>
          </a:prstGeom>
          <a:solidFill>
            <a:srgbClr val="2E270A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358383"/>
            <a:ext cx="10600639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KNOWN TECH DEBT — two live secrets were found committed to git this session: a database admin password in .env, and a Groq API key hardcoded as a source-level fallback in config.py. The code-level fallback has been removed; both secrets still need rotating, and .env needs to come off git tracking.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14B8A6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7EEF5"/>
                </a:solidFill>
                <a:latin typeface="Consolas"/>
              </a:rPr>
              <a:t>Next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1226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Rotate exposed 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59736"/>
            <a:ext cx="4984851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Groq key and DB password — then untrack .env from 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96596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1315" y="211226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Re-enable Business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1315" y="2459736"/>
            <a:ext cx="4984851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Once the profile builder is validated end-to-end against a real assessment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3192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07822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AI Chat Advisor parity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425696"/>
            <a:ext cx="4984851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Decide whether its recommendation schema should be unified with the questionnaire path's contract.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3931920"/>
            <a:ext cx="5387187" cy="1737360"/>
          </a:xfrm>
          <a:prstGeom prst="roundRect">
            <a:avLst>
              <a:gd name="adj" fmla="val 4500"/>
            </a:avLst>
          </a:prstGeom>
          <a:solidFill>
            <a:srgbClr val="101D2B"/>
          </a:solidFill>
          <a:ln w="12700">
            <a:solidFill>
              <a:srgbClr val="2A4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315" y="4078224"/>
            <a:ext cx="498485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7EEF5"/>
                </a:solidFill>
                <a:latin typeface="Consolas"/>
              </a:rPr>
              <a:t>Production PDF smoke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315" y="4425696"/>
            <a:ext cx="4984851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7B8C8"/>
                </a:solidFill>
                <a:latin typeface="Segoe UI"/>
              </a:rPr>
              <a:t>Confirm the html2canvas fix holds against a real next build, not just dev.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48A9E"/>
                </a:solidFill>
                <a:latin typeface="Consolas"/>
              </a:rPr>
              <a:t>MonetizeMate — Engineering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48A9E"/>
                </a:solidFill>
                <a:latin typeface="Consola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